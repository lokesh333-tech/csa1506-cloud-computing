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Barlow" panose="00000500000000000000" pitchFamily="2" charset="0"/>
      <p:regular r:id="rId10"/>
    </p:embeddedFont>
    <p:embeddedFont>
      <p:font typeface="Barlow Bold" panose="020B0604020202020204" charset="0"/>
      <p:regular r:id="rId11"/>
    </p:embeddedFont>
    <p:embeddedFont>
      <p:font typeface="Spline Sans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45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icicnis66685.2025.11315798" TargetMode="External"/><Relationship Id="rId3" Type="http://schemas.openxmlformats.org/officeDocument/2006/relationships/image" Target="../media/image37.sv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cloud.google.com/architecture/mlops-continuous-delivery-and-automation-pipelines-in-machine-learning" TargetMode="External"/><Relationship Id="rId5" Type="http://schemas.openxmlformats.org/officeDocument/2006/relationships/image" Target="../media/image38.svg"/><Relationship Id="rId4" Type="http://schemas.openxmlformats.org/officeDocument/2006/relationships/hyperlink" Target="https://docs.cloud.google.com/kubernetes-engine/docs/concepts/tp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608707"/>
            <a:ext cx="6151409" cy="1453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Role of Artificial Intelligence and Machine Learning in Cloud Platforms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734200" y="2310309"/>
            <a:ext cx="2424151" cy="264914"/>
          </a:xfrm>
          <a:prstGeom prst="roundRect">
            <a:avLst>
              <a:gd name="adj" fmla="val 78997"/>
            </a:avLst>
          </a:prstGeom>
          <a:solidFill>
            <a:srgbClr val="004D3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4" y="2373015"/>
            <a:ext cx="139498" cy="139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8021" y="2362597"/>
            <a:ext cx="2615341" cy="16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CO-1 TECHNICAL PRESENTATION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3245463" y="2310309"/>
            <a:ext cx="2165494" cy="264914"/>
          </a:xfrm>
          <a:prstGeom prst="roundRect">
            <a:avLst>
              <a:gd name="adj" fmla="val 78997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350037" y="2362597"/>
            <a:ext cx="2565931" cy="16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SIMATS ENGINEERING COLLEGE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151" y="2928838"/>
            <a:ext cx="3539640" cy="990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6622" y="2947888"/>
            <a:ext cx="330816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46622" y="3355677"/>
            <a:ext cx="3308168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Lokesh S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Register No: 192511037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151" y="4212034"/>
            <a:ext cx="3539640" cy="7179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6622" y="4231084"/>
            <a:ext cx="330816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46622" y="4638873"/>
            <a:ext cx="330816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Computer Science and Engineering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151" y="5223173"/>
            <a:ext cx="3539640" cy="7179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6622" y="5242223"/>
            <a:ext cx="330816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Institution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46622" y="5650012"/>
            <a:ext cx="330816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SIMATS Engineering College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686580" y="2947888"/>
            <a:ext cx="2205280" cy="1610717"/>
          </a:xfrm>
          <a:prstGeom prst="roundRect">
            <a:avLst>
              <a:gd name="adj" fmla="val 1624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879952" y="3141266"/>
            <a:ext cx="181853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</a:rPr>
              <a:t>Course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879952" y="3549055"/>
            <a:ext cx="1818535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CSA 1506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Cloud Computing And Big Data Analytics</a:t>
            </a:r>
          </a:p>
        </p:txBody>
      </p:sp>
      <p:sp>
        <p:nvSpPr>
          <p:cNvPr id="21" name="Shape 14"/>
          <p:cNvSpPr/>
          <p:nvPr/>
        </p:nvSpPr>
        <p:spPr>
          <a:xfrm>
            <a:off x="4686580" y="4724202"/>
            <a:ext cx="2205280" cy="1338659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79952" y="4917579"/>
            <a:ext cx="181853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Focus Domain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879952" y="5325368"/>
            <a:ext cx="181853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· ML · Cloud Platforms · MLOps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38063"/>
            <a:ext cx="10723294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Introduction to AI &amp; ML in Cloud Platforms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888" y="1170384"/>
            <a:ext cx="5395976" cy="5149453"/>
          </a:xfrm>
          <a:prstGeom prst="roundRect">
            <a:avLst>
              <a:gd name="adj" fmla="val 7272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856" y="1302941"/>
            <a:ext cx="5084040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856" y="1652091"/>
            <a:ext cx="5084040" cy="161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is the simulation of human intelligence processes by machines — encompassing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learning, reasoning, problem-solving, perception,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language understanding. Key characteristics include autonomy, adaptability, real-time decision-making, natural language processing, computer vision, and cognitive computing. AI powers intelligent automation, predictive analytics, and personalized experiences across every industry vertical.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856" y="3457079"/>
            <a:ext cx="5084040" cy="19050"/>
          </a:xfrm>
          <a:prstGeom prst="roundRect">
            <a:avLst>
              <a:gd name="adj" fmla="val 5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856" y="3664248"/>
            <a:ext cx="5084040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9DDDA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856" y="4013398"/>
            <a:ext cx="5084040" cy="161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subset of AI that enables systems to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 and improve from experience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without being explicitly programmed, leveraging statistical algorithms on data. Core types include: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Supervised Learning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(labeled data),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Unsupervised Learning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(pattern discovery),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Reinforcement Learning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(reward-based), and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Semi-supervised Learning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ML drives recommendation engines, fraud detection, image recognition, NLP, and autonomous decision-making pipelines.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92494" y="1302941"/>
            <a:ext cx="5171350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7A7E7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AI &amp; ML Are Integrated with Cloud Computing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933" y="1673423"/>
            <a:ext cx="234051" cy="2340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99489" y="1668661"/>
            <a:ext cx="4664355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Elastic Computing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99489" y="2017812"/>
            <a:ext cx="4664355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Dynamically scale GPU/TPU clusters for training workloads — pay only for what you use, eliminating idle capacity costs.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933" y="2749748"/>
            <a:ext cx="234051" cy="2340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99489" y="2744986"/>
            <a:ext cx="4664355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Scalable Storage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799489" y="3094137"/>
            <a:ext cx="4664355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Petabyte-scale data lakes (S3, GCS, Azure Blob) feed ML pipelines without infrastructure bottlenecks.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933" y="3826073"/>
            <a:ext cx="234051" cy="2340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9489" y="3821311"/>
            <a:ext cx="4664355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GPU/TPU Acceleration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99489" y="4170462"/>
            <a:ext cx="466435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TPUs — Google's custom ASICs — deliver up to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420 TFLOPS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deep learning; NVIDIA A100 GPUs available on-demand across AWS, Azure, and GCP.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933" y="5133380"/>
            <a:ext cx="234051" cy="23405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99489" y="5128617"/>
            <a:ext cx="4664355" cy="21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Cost Efficiency &amp; Speed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799489" y="5477768"/>
            <a:ext cx="466435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Eliminates CapEx for on-premise hardware; OpEx model reduces TCO by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40–60%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CI/CD and MLOps frameworks shrink deployment time from weeks to hours.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87375"/>
            <a:ext cx="10723294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&amp; ML Cloud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4200" y="1124148"/>
            <a:ext cx="10723294" cy="524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end-to-end ML pipeline on cloud integrates eight sequential stages — from raw data ingestion through storage, processing, training, evaluation, deployment, API exposure, and finally continuous real-time monitoring. MLOps culture unifies ML system development and operations, advocating for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automation and monitoring at all steps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including integration, testing, releasing, deployment, and infrastructure management.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2685" y="2043212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4200" y="1958876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539" y="2055316"/>
            <a:ext cx="192678" cy="192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9546" y="1979017"/>
            <a:ext cx="340510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9546" y="2247305"/>
            <a:ext cx="340510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IoT / APIs / Databases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55363" y="2904133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6878" y="2819797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217" y="2916237"/>
            <a:ext cx="192678" cy="192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02224" y="2839938"/>
            <a:ext cx="3212424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402224" y="3108226"/>
            <a:ext cx="3212424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S3 / GCS / Azure Blob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48141" y="3765054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9656" y="3680718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995" y="3777159"/>
            <a:ext cx="192678" cy="1926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5001" y="3700859"/>
            <a:ext cx="301964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595001" y="3969147"/>
            <a:ext cx="3019647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Spark / Dataflow / Glue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440918" y="4625975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312433" y="4541639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8772" y="4638080"/>
            <a:ext cx="192678" cy="1926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7778" y="4561780"/>
            <a:ext cx="2826870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787778" y="4830068"/>
            <a:ext cx="2826870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TensorFlow / PyTorch / AutoML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63006" y="2043212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934521" y="1958876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0860" y="2055316"/>
            <a:ext cx="192678" cy="1926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09866" y="1979017"/>
            <a:ext cx="6053879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09866" y="2247305"/>
            <a:ext cx="6053879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MLflow / Kubeflow — accuracy, F1, AUC-ROC, RMSE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255684" y="2904133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127199" y="2819797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3538" y="2916237"/>
            <a:ext cx="192678" cy="1926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02544" y="2839938"/>
            <a:ext cx="586120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602544" y="3108226"/>
            <a:ext cx="586120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Docker / Kubernetes — SageMaker / Vertex AI / Azure ML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48461" y="3765054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19976" y="3680718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6315" y="3777159"/>
            <a:ext cx="192678" cy="1926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795321" y="3700859"/>
            <a:ext cx="5668424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795321" y="3969147"/>
            <a:ext cx="5668424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REST / gRPC — mobile, web, and third-party services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641239" y="4625975"/>
            <a:ext cx="128485" cy="578247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512753" y="4541639"/>
            <a:ext cx="385455" cy="38546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9092" y="4638080"/>
            <a:ext cx="192678" cy="19268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988099" y="4561780"/>
            <a:ext cx="5475647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988099" y="4830068"/>
            <a:ext cx="5475647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Weights &amp; Biases / CloudWatch — drift, latency, throughput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34200" y="5406529"/>
            <a:ext cx="3514439" cy="864096"/>
          </a:xfrm>
          <a:prstGeom prst="roundRect">
            <a:avLst>
              <a:gd name="adj" fmla="val 22307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75385" y="5547717"/>
            <a:ext cx="3232069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GPU Computing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875385" y="5779988"/>
            <a:ext cx="3232069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NVIDIA A100/H100 &amp; Google TPU v4 pods for accelerated training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338529" y="5406529"/>
            <a:ext cx="3514538" cy="864096"/>
          </a:xfrm>
          <a:prstGeom prst="roundRect">
            <a:avLst>
              <a:gd name="adj" fmla="val 22307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479714" y="5547717"/>
            <a:ext cx="3232168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4479714" y="5779988"/>
            <a:ext cx="3232168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IAM, VPC isolation, encryption, SOC 2 / GDPR / HIPAA compliance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942957" y="5406529"/>
            <a:ext cx="3514538" cy="864096"/>
          </a:xfrm>
          <a:prstGeom prst="roundRect">
            <a:avLst>
              <a:gd name="adj" fmla="val 22307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8084142" y="5547717"/>
            <a:ext cx="3232168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MLOps Pipeline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8084142" y="5779988"/>
            <a:ext cx="3232168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CI/CD/CT loops for continuous retraining and versioning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72914"/>
            <a:ext cx="10723294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Major AI &amp; ML Cloud Services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4200" y="1309688"/>
            <a:ext cx="10723294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cloud giants — AWS, Microsoft Azure, Google Cloud, IBM Cloud, and Oracle OCI — each offer differentiated AI/ML platforms targeting distinct workloads. AWS leads with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29% cloud AI market share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Azure commands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20%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dominating regulated enterprise environments, and Google Cloud holds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13%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industry-leading AutoML accuracy of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92.7%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4200" y="1760240"/>
            <a:ext cx="10723294" cy="1990229"/>
          </a:xfrm>
          <a:prstGeom prst="roundRect">
            <a:avLst>
              <a:gd name="adj" fmla="val 968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4200" y="2064941"/>
            <a:ext cx="10723294" cy="80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2366466"/>
            <a:ext cx="10723294" cy="80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2842716"/>
            <a:ext cx="10723294" cy="80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3144242"/>
            <a:ext cx="10723294" cy="80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4200" y="3445768"/>
            <a:ext cx="10723294" cy="80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668620" y="1760240"/>
            <a:ext cx="8031" cy="199022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96491" y="1760240"/>
            <a:ext cx="8031" cy="199022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03001" y="1760240"/>
            <a:ext cx="8031" cy="199022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59288" y="1760240"/>
            <a:ext cx="8031" cy="199022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0749" y="1766590"/>
            <a:ext cx="1927871" cy="29835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5" name="Text 13"/>
          <p:cNvSpPr/>
          <p:nvPr/>
        </p:nvSpPr>
        <p:spPr>
          <a:xfrm>
            <a:off x="869234" y="1826816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68620" y="1766590"/>
            <a:ext cx="1927871" cy="29835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2800280" y="1826816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 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6491" y="1766590"/>
            <a:ext cx="1606510" cy="29835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7"/>
          <p:cNvSpPr/>
          <p:nvPr/>
        </p:nvSpPr>
        <p:spPr>
          <a:xfrm>
            <a:off x="4728151" y="1826816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3001" y="1766590"/>
            <a:ext cx="2356287" cy="29835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21" name="Text 19"/>
          <p:cNvSpPr/>
          <p:nvPr/>
        </p:nvSpPr>
        <p:spPr>
          <a:xfrm>
            <a:off x="6334661" y="1826816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GenAI / LLM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59288" y="1766590"/>
            <a:ext cx="2891857" cy="29835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23" name="Text 21"/>
          <p:cNvSpPr/>
          <p:nvPr/>
        </p:nvSpPr>
        <p:spPr>
          <a:xfrm>
            <a:off x="8690948" y="1826816"/>
            <a:ext cx="324129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Best Use Case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9234" y="2128341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00280" y="2128341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SageMaker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8151" y="2128341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AutoPilot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4661" y="2128341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Bedrock (Claude, Titan)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90948" y="2128341"/>
            <a:ext cx="324129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Large-scale engineering &amp; diverse ML tasks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9234" y="2429867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00280" y="2429867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Azure 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28151" y="2429867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4661" y="2429867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Azure OpenAI (GPT-4o)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90948" y="2429867"/>
            <a:ext cx="2631712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Enterprise integration &amp; compliance-heavy industries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9234" y="2906117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00280" y="2906117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28151" y="2906117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AutoML (92.7% acc.)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4661" y="2906117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/ PaLM 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90948" y="2906117"/>
            <a:ext cx="324129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research, AutoML &amp; data analytics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9234" y="3207643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IBM Cloud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00280" y="3207643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Watson Studio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28151" y="3207643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34661" y="3207643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Watsonx.ai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90948" y="3207643"/>
            <a:ext cx="324129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Governed hybrid environments &amp; AI security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9234" y="3509169"/>
            <a:ext cx="227731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Oracle OCI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00280" y="3509169"/>
            <a:ext cx="227413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OCI AI Services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28151" y="3509169"/>
            <a:ext cx="1952775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OCI AutoML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34661" y="3509169"/>
            <a:ext cx="2702552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OCI Generative AI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90948" y="3509169"/>
            <a:ext cx="3241296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High-performance DB &amp; ERP workloads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30014" y="3915767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29%</a:t>
            </a:r>
            <a:endParaRPr lang="en-US" sz="3300" dirty="0"/>
          </a:p>
        </p:txBody>
      </p:sp>
      <p:sp>
        <p:nvSpPr>
          <p:cNvPr id="50" name="Text 48"/>
          <p:cNvSpPr/>
          <p:nvPr/>
        </p:nvSpPr>
        <p:spPr>
          <a:xfrm>
            <a:off x="734200" y="4471392"/>
            <a:ext cx="53053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AWS Market Share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4200" y="4703663"/>
            <a:ext cx="53053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Largest cloud AI platform globally — broad service ecosystem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7818" y="3915767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20%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6152004" y="4471392"/>
            <a:ext cx="53054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Azure Market Share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52004" y="4703663"/>
            <a:ext cx="53054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Enterprise &amp; regulated industries leader with OpenAI integration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530014" y="5122466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13%</a:t>
            </a:r>
            <a:endParaRPr lang="en-US" sz="3300" dirty="0"/>
          </a:p>
        </p:txBody>
      </p:sp>
      <p:sp>
        <p:nvSpPr>
          <p:cNvPr id="56" name="Text 54"/>
          <p:cNvSpPr/>
          <p:nvPr/>
        </p:nvSpPr>
        <p:spPr>
          <a:xfrm>
            <a:off x="734200" y="5678091"/>
            <a:ext cx="53053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Google Cloud Share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4200" y="5910362"/>
            <a:ext cx="53053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AutoML accuracy benchmark leader at 92.7%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47818" y="5122466"/>
            <a:ext cx="3713764" cy="4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3300" dirty="0"/>
          </a:p>
        </p:txBody>
      </p:sp>
      <p:sp>
        <p:nvSpPr>
          <p:cNvPr id="59" name="Text 57"/>
          <p:cNvSpPr/>
          <p:nvPr/>
        </p:nvSpPr>
        <p:spPr>
          <a:xfrm>
            <a:off x="6152004" y="5678091"/>
            <a:ext cx="530549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Platforms Compared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52004" y="5910362"/>
            <a:ext cx="530549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AWS · Azure · GCP · IBM · Oracle OCI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63761"/>
            <a:ext cx="10723294" cy="35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Applications, Benefits &amp; Challenges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4200" y="1143794"/>
            <a:ext cx="1280088" cy="192187"/>
          </a:xfrm>
          <a:prstGeom prst="roundRect">
            <a:avLst>
              <a:gd name="adj" fmla="val 78982"/>
            </a:avLst>
          </a:prstGeom>
          <a:solidFill>
            <a:srgbClr val="004D36"/>
          </a:solidFill>
          <a:ln/>
        </p:spPr>
      </p:sp>
      <p:sp>
        <p:nvSpPr>
          <p:cNvPr id="4" name="Text 2"/>
          <p:cNvSpPr/>
          <p:nvPr/>
        </p:nvSpPr>
        <p:spPr>
          <a:xfrm>
            <a:off x="810002" y="1181695"/>
            <a:ext cx="1738071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INDUSTRY APPLICATIONS</a:t>
            </a:r>
            <a:endParaRPr lang="en-US" sz="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434009"/>
            <a:ext cx="316202" cy="3162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9342" y="1434009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59342" y="1696839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Medical imaging diagnosis, drug discovery, patient risk prediction, personalized treatment plans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212876"/>
            <a:ext cx="316202" cy="3162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9342" y="2212876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Finance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59342" y="2475706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fraud detection, algorithmic trading, credit scoring, AML compliance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991743"/>
            <a:ext cx="316202" cy="3162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9342" y="2991743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Retail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159342" y="3254573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Recommendation engines, demand forecasting, inventory optimization, visual search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770610"/>
            <a:ext cx="316202" cy="3162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59342" y="3770610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159342" y="4033441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 maintenance, quality control via computer vision, digital twins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549477"/>
            <a:ext cx="316202" cy="3162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59342" y="4549477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 Cities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159342" y="4812308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Traffic optimization, energy grid management, public safety surveillance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5328345"/>
            <a:ext cx="316202" cy="31621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59342" y="5328345"/>
            <a:ext cx="3679038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1159342" y="5591175"/>
            <a:ext cx="3679038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Anomaly detection, zero-day threat ID, behavioral analytics, automated incident response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5062212" y="1045766"/>
            <a:ext cx="3183156" cy="5248473"/>
          </a:xfrm>
          <a:prstGeom prst="roundRect">
            <a:avLst>
              <a:gd name="adj" fmla="val 9537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5188614" y="1143794"/>
            <a:ext cx="804743" cy="192187"/>
          </a:xfrm>
          <a:prstGeom prst="roundRect">
            <a:avLst>
              <a:gd name="adj" fmla="val 78982"/>
            </a:avLst>
          </a:prstGeom>
          <a:solidFill>
            <a:srgbClr val="004D36"/>
          </a:solidFill>
          <a:ln/>
        </p:spPr>
      </p:sp>
      <p:sp>
        <p:nvSpPr>
          <p:cNvPr id="25" name="Text 17"/>
          <p:cNvSpPr/>
          <p:nvPr/>
        </p:nvSpPr>
        <p:spPr>
          <a:xfrm>
            <a:off x="5264415" y="1181695"/>
            <a:ext cx="1262725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5188614" y="1434009"/>
            <a:ext cx="2930352" cy="882749"/>
          </a:xfrm>
          <a:prstGeom prst="roundRect">
            <a:avLst>
              <a:gd name="adj" fmla="val 21494"/>
            </a:avLst>
          </a:prstGeom>
          <a:solidFill>
            <a:srgbClr val="091231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327715" y="1573113"/>
            <a:ext cx="265215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Infinite Scalability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327715" y="1835944"/>
            <a:ext cx="2652150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On-demand GPU/TPU clusters scale to any workload size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188614" y="2403872"/>
            <a:ext cx="2930352" cy="882749"/>
          </a:xfrm>
          <a:prstGeom prst="roundRect">
            <a:avLst>
              <a:gd name="adj" fmla="val 21494"/>
            </a:avLst>
          </a:prstGeom>
          <a:solidFill>
            <a:srgbClr val="091231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327715" y="2542977"/>
            <a:ext cx="265215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40–60% TCO Savings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327715" y="2805807"/>
            <a:ext cx="2652150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Reduced operational costs via OpEx model; no CapEx hardware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188614" y="3373735"/>
            <a:ext cx="2930352" cy="882749"/>
          </a:xfrm>
          <a:prstGeom prst="roundRect">
            <a:avLst>
              <a:gd name="adj" fmla="val 21494"/>
            </a:avLst>
          </a:prstGeom>
          <a:solidFill>
            <a:srgbClr val="091231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327715" y="3512840"/>
            <a:ext cx="265215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99.99% SLA Uptime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327715" y="3775670"/>
            <a:ext cx="2652150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availability with geo-redundant cloud infrastructure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188614" y="4343598"/>
            <a:ext cx="2930352" cy="882749"/>
          </a:xfrm>
          <a:prstGeom prst="roundRect">
            <a:avLst>
              <a:gd name="adj" fmla="val 21494"/>
            </a:avLst>
          </a:prstGeom>
          <a:solidFill>
            <a:srgbClr val="091231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327715" y="4482703"/>
            <a:ext cx="265215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Analytics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327715" y="4745534"/>
            <a:ext cx="2652150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Intelligent automation replacing manual workflows at scale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5188614" y="5313462"/>
            <a:ext cx="2930352" cy="882749"/>
          </a:xfrm>
          <a:prstGeom prst="roundRect">
            <a:avLst>
              <a:gd name="adj" fmla="val 21494"/>
            </a:avLst>
          </a:prstGeom>
          <a:solidFill>
            <a:srgbClr val="091231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327715" y="5452566"/>
            <a:ext cx="265215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Faster Time-to-Market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327715" y="5715397"/>
            <a:ext cx="2652150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MLOps CI/CD pipelines compress deployment cycles from weeks to hours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8469200" y="1143794"/>
            <a:ext cx="1201211" cy="192187"/>
          </a:xfrm>
          <a:prstGeom prst="roundRect">
            <a:avLst>
              <a:gd name="adj" fmla="val 78982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545001" y="1181695"/>
            <a:ext cx="1659194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CHALLENGES</a:t>
            </a:r>
            <a:endParaRPr lang="en-US" sz="75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9200" y="1434009"/>
            <a:ext cx="3000994" cy="882749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659100" y="1573113"/>
            <a:ext cx="2671993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Privacy &amp; Compliance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8659100" y="1835944"/>
            <a:ext cx="2671993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GDPR, HIPAA, and CCPA impose strict data governance requirements</a:t>
            </a:r>
            <a:endParaRPr lang="en-US" sz="95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69200" y="2403872"/>
            <a:ext cx="3000994" cy="882749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8659100" y="2542977"/>
            <a:ext cx="2671993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Ethical AI &amp; Bias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8659100" y="2805807"/>
            <a:ext cx="2671993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Biased training data leads to discriminatory outcomes; XAI explainability is critical</a:t>
            </a:r>
            <a:endParaRPr lang="en-US" sz="9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69200" y="3373735"/>
            <a:ext cx="3000994" cy="882749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659100" y="3512840"/>
            <a:ext cx="2671993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Security Risks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8659100" y="3775670"/>
            <a:ext cx="2671993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Adversarial attacks, model inversion, and data poisoning threaten AI integrity</a:t>
            </a:r>
            <a:endParaRPr lang="en-US" sz="95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9200" y="4343598"/>
            <a:ext cx="3000994" cy="882749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8659100" y="4482703"/>
            <a:ext cx="2671993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 Training Cost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8659100" y="4745534"/>
            <a:ext cx="2671993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LLM training costs $1M–$100M+; significant carbon footprint concerns</a:t>
            </a:r>
            <a:endParaRPr lang="en-US" sz="95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9200" y="5313462"/>
            <a:ext cx="3000994" cy="882749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8659100" y="5452566"/>
            <a:ext cx="2671993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Vendor Lock-in</a:t>
            </a: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8659100" y="5715397"/>
            <a:ext cx="2671993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Proprietary APIs and frameworks create migration barriers across providers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32123"/>
            <a:ext cx="10723294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Scope &amp; Conclusion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34200" y="1081088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Emerging Trends Shaping the Future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310977"/>
            <a:ext cx="106261" cy="1062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4200" y="1465560"/>
            <a:ext cx="5781133" cy="127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734200" y="1544042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Generative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4200" y="1753096"/>
            <a:ext cx="5781133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Foundation models (GPT-4o, Gemini, Claude) enabling content creation, code generation, and multimodal reasoning at cloud scale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175768"/>
            <a:ext cx="106261" cy="1062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4200" y="2330351"/>
            <a:ext cx="5781133" cy="127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0" name="Text 6"/>
          <p:cNvSpPr/>
          <p:nvPr/>
        </p:nvSpPr>
        <p:spPr>
          <a:xfrm>
            <a:off x="734200" y="2408833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Agents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34200" y="2617887"/>
            <a:ext cx="5781133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Autonomous multi-step task execution — orchestrate workflows, browse web, write code, and interact with APIs without human intervention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040559"/>
            <a:ext cx="106261" cy="10626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200" y="3195141"/>
            <a:ext cx="5781133" cy="127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4" name="Text 9"/>
          <p:cNvSpPr/>
          <p:nvPr/>
        </p:nvSpPr>
        <p:spPr>
          <a:xfrm>
            <a:off x="734200" y="3273623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Edge AI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34200" y="3482677"/>
            <a:ext cx="5781133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Lightweight ML models on IoT and smartphones for ultra-low latency inference without cloud round-trips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771205"/>
            <a:ext cx="106261" cy="10626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4200" y="3925788"/>
            <a:ext cx="5781133" cy="127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8" name="Text 12"/>
          <p:cNvSpPr/>
          <p:nvPr/>
        </p:nvSpPr>
        <p:spPr>
          <a:xfrm>
            <a:off x="734200" y="4004270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Green AI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34200" y="4213324"/>
            <a:ext cx="5781133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Carbon-aware computing, sparse transformer architectures, and renewable-powered data centers reducing AI's environmental footprint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635996"/>
            <a:ext cx="106261" cy="106263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34200" y="4790579"/>
            <a:ext cx="5781133" cy="127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2" name="Text 15"/>
          <p:cNvSpPr/>
          <p:nvPr/>
        </p:nvSpPr>
        <p:spPr>
          <a:xfrm>
            <a:off x="734200" y="4869061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Federated Learning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34200" y="5078115"/>
            <a:ext cx="5781133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Training ML models across distributed devices without centralizing sensitive data — critical for healthcare and finance privacy</a:t>
            </a:r>
            <a:endParaRPr lang="en-US" sz="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5366643"/>
            <a:ext cx="106261" cy="106263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4200" y="5521226"/>
            <a:ext cx="5781133" cy="127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26" name="Text 18"/>
          <p:cNvSpPr/>
          <p:nvPr/>
        </p:nvSpPr>
        <p:spPr>
          <a:xfrm>
            <a:off x="734200" y="5599708"/>
            <a:ext cx="5781133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Quantum Machine Learning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734200" y="5808762"/>
            <a:ext cx="5781133" cy="26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Quantum computing accelerating optimization, cryptography, and drug discovery — IBM Quantum and Google Sycamore leading research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6780837" y="1081088"/>
            <a:ext cx="4682909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9DDDA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940178" y="1353145"/>
            <a:ext cx="4523567" cy="670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and Machine Learning are </a:t>
            </a: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fundamentally transforming cloud platforms</a:t>
            </a: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enabling intelligent automation, scalable computing, predictive analytics, and innovative services that accelerate digital transformation across every industry. The convergence of cloud elasticity with AI intelligence is not a future possibility; </a:t>
            </a: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 is the present reality</a:t>
            </a: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powering the next generation of enterprise technology.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6780837" y="1297781"/>
            <a:ext cx="12700" cy="781447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</p:sp>
      <p:sp>
        <p:nvSpPr>
          <p:cNvPr id="31" name="Shape 23"/>
          <p:cNvSpPr/>
          <p:nvPr/>
        </p:nvSpPr>
        <p:spPr>
          <a:xfrm>
            <a:off x="6780837" y="2148384"/>
            <a:ext cx="4682909" cy="1692573"/>
          </a:xfrm>
          <a:prstGeom prst="roundRect">
            <a:avLst>
              <a:gd name="adj" fmla="val 9418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793536" y="2161084"/>
            <a:ext cx="4657509" cy="555724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33" name="Text 25"/>
          <p:cNvSpPr/>
          <p:nvPr/>
        </p:nvSpPr>
        <p:spPr>
          <a:xfrm>
            <a:off x="6899797" y="2267347"/>
            <a:ext cx="4444988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Intelligent Automation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899797" y="2476401"/>
            <a:ext cx="4444988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AI-driven workflows replacing manual, repetitive enterprise processes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6793536" y="2716808"/>
            <a:ext cx="4657509" cy="555724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36" name="Shape 28"/>
          <p:cNvSpPr/>
          <p:nvPr/>
        </p:nvSpPr>
        <p:spPr>
          <a:xfrm>
            <a:off x="6793536" y="2716808"/>
            <a:ext cx="4657509" cy="12700"/>
          </a:xfrm>
          <a:prstGeom prst="roundRect">
            <a:avLst>
              <a:gd name="adj" fmla="val 1255187"/>
            </a:avLst>
          </a:prstGeom>
          <a:solidFill>
            <a:srgbClr val="0FC3C0"/>
          </a:solidFill>
          <a:ln/>
        </p:spPr>
      </p:sp>
      <p:sp>
        <p:nvSpPr>
          <p:cNvPr id="37" name="Text 29"/>
          <p:cNvSpPr/>
          <p:nvPr/>
        </p:nvSpPr>
        <p:spPr>
          <a:xfrm>
            <a:off x="6899797" y="2823071"/>
            <a:ext cx="4444988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Scalable Intelligence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899797" y="3032125"/>
            <a:ext cx="4444988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elasticity enabling ML at petabyte scale across every vertical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6793536" y="3272532"/>
            <a:ext cx="4657509" cy="555724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40" name="Shape 32"/>
          <p:cNvSpPr/>
          <p:nvPr/>
        </p:nvSpPr>
        <p:spPr>
          <a:xfrm>
            <a:off x="6793536" y="3272532"/>
            <a:ext cx="4657509" cy="12700"/>
          </a:xfrm>
          <a:prstGeom prst="roundRect">
            <a:avLst>
              <a:gd name="adj" fmla="val 1255187"/>
            </a:avLst>
          </a:prstGeom>
          <a:solidFill>
            <a:srgbClr val="1D8DCD"/>
          </a:solidFill>
          <a:ln/>
        </p:spPr>
      </p:sp>
      <p:sp>
        <p:nvSpPr>
          <p:cNvPr id="41" name="Text 33"/>
          <p:cNvSpPr/>
          <p:nvPr/>
        </p:nvSpPr>
        <p:spPr>
          <a:xfrm>
            <a:off x="6899797" y="3378795"/>
            <a:ext cx="4444988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Digital Transformation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899797" y="3587849"/>
            <a:ext cx="4444988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+ Cloud convergence as the foundation of next-gen enterprise tech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6780837" y="3910112"/>
            <a:ext cx="4682909" cy="297855"/>
          </a:xfrm>
          <a:prstGeom prst="roundRect">
            <a:avLst>
              <a:gd name="adj" fmla="val 53519"/>
            </a:avLst>
          </a:prstGeom>
          <a:solidFill>
            <a:srgbClr val="00805A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7097" y="4057749"/>
            <a:ext cx="132751" cy="10626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126109" y="3991967"/>
            <a:ext cx="4840960" cy="1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 — Questions &amp; Discussion Welcome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65051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Sources &amp; References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442145"/>
            <a:ext cx="3452032" cy="2212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4747" y="1651099"/>
            <a:ext cx="2932535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Google Cloud — TPU Documentation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44747" y="2271216"/>
            <a:ext cx="2932535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TPUs in GKE | GKE AI/ML | Google Cloud Documentation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9782" y="1442145"/>
            <a:ext cx="3452032" cy="22127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0329" y="1651099"/>
            <a:ext cx="2932535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Google Cloud — MLOps Architecture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680329" y="2271216"/>
            <a:ext cx="2932535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MLOps: Continuous delivery and automation pipelines in machine learning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5364" y="1442145"/>
            <a:ext cx="3452032" cy="22127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15911" y="1651099"/>
            <a:ext cx="2932535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IEEE ICICNIS 2025 — Cloud Platform Research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315911" y="2271216"/>
            <a:ext cx="2932535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Strategic Cloud Selection: Aligning Workload Requirements with the Core Competencies of AWS, Azure, GCP, IBM and OCI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4200" y="4067870"/>
            <a:ext cx="2477033" cy="1724819"/>
          </a:xfrm>
          <a:prstGeom prst="roundRect">
            <a:avLst>
              <a:gd name="adj" fmla="val 1596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36800" y="4270474"/>
            <a:ext cx="207183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36800" y="4709021"/>
            <a:ext cx="207183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Computer Science and Engineering — SIMATS Engineering College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94784" y="4067870"/>
            <a:ext cx="2477133" cy="1724819"/>
          </a:xfrm>
          <a:prstGeom prst="roundRect">
            <a:avLst>
              <a:gd name="adj" fmla="val 15965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97383" y="4270474"/>
            <a:ext cx="20719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Presentation Type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97383" y="4709021"/>
            <a:ext cx="207193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CO-1 Technical Seminar | Academic Year 2024–25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26128" y="4067870"/>
            <a:ext cx="2477033" cy="2018506"/>
          </a:xfrm>
          <a:prstGeom prst="roundRect">
            <a:avLst>
              <a:gd name="adj" fmla="val 13642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528728" y="4270474"/>
            <a:ext cx="207183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28728" y="4709021"/>
            <a:ext cx="2071834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· ML · Cloud Architecture · Platform Comparison · MLOps · Future Trends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986712" y="4067870"/>
            <a:ext cx="2477133" cy="2018506"/>
          </a:xfrm>
          <a:prstGeom prst="roundRect">
            <a:avLst>
              <a:gd name="adj" fmla="val 13642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189312" y="4270474"/>
            <a:ext cx="20719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Presenter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189312" y="4709021"/>
            <a:ext cx="207193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[Student Name] | Register No: [Register Number]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6FFB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1281</Words>
  <Application>Microsoft Office PowerPoint</Application>
  <PresentationFormat>Widescreen</PresentationFormat>
  <Paragraphs>178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Barlow</vt:lpstr>
      <vt:lpstr>Barlow Bold</vt:lpstr>
      <vt:lpstr>Spline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.S</cp:lastModifiedBy>
  <cp:revision>2</cp:revision>
  <dcterms:created xsi:type="dcterms:W3CDTF">2026-07-25T08:58:11Z</dcterms:created>
  <dcterms:modified xsi:type="dcterms:W3CDTF">2026-07-25T09:24:30Z</dcterms:modified>
</cp:coreProperties>
</file>